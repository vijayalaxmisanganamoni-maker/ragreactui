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 dirty="0"/>
              <a:t>Real World RAG System</a:t>
            </a:r>
          </a:p>
          <a:p>
            <a:pPr algn="ctr">
              <a:defRPr sz="2400">
                <a:solidFill>
                  <a:srgbClr val="EAF1F8"/>
                </a:solidFill>
              </a:defRPr>
            </a:pPr>
            <a:r>
              <a:rPr dirty="0"/>
              <a:t>Multi-Domain Retrieval-Augmented Generation on </a:t>
            </a:r>
            <a:r>
              <a:rPr dirty="0" err="1"/>
              <a:t>RAGBench</a:t>
            </a:r>
            <a:endParaRPr dirty="0"/>
          </a:p>
          <a:p>
            <a:pPr algn="ctr">
              <a:defRPr sz="1800">
                <a:solidFill>
                  <a:srgbClr val="EAF1F8"/>
                </a:solidFill>
              </a:defRPr>
            </a:pPr>
            <a:r>
              <a:rPr dirty="0"/>
              <a:t>Customer Support | Biomedical | General Knowledge | Legal | Finance</a:t>
            </a:r>
          </a:p>
          <a:p>
            <a:pPr algn="ctr">
              <a:defRPr sz="1400">
                <a:solidFill>
                  <a:srgbClr val="EAF1F8"/>
                </a:solidFill>
              </a:defRPr>
            </a:pPr>
            <a:endParaRPr dirty="0"/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dirty="0"/>
              <a:t>AIML - PGCP Capstone Project 2  (Batch 26)</a:t>
            </a:r>
          </a:p>
          <a:p>
            <a:pPr algn="ctr">
              <a:defRPr sz="1800">
                <a:solidFill>
                  <a:srgbClr val="EAF1F8"/>
                </a:solidFill>
              </a:defRPr>
            </a:pPr>
            <a:r>
              <a:t>Group </a:t>
            </a:r>
            <a:r>
              <a:rPr lang="en-IN"/>
              <a:t>10</a:t>
            </a:r>
            <a:r>
              <a:rPr dirty="0"/>
              <a:t> - </a:t>
            </a:r>
            <a:r>
              <a:rPr lang="en-IN" dirty="0"/>
              <a:t>Vijaya </a:t>
            </a:r>
            <a:r>
              <a:rPr lang="en-IN" dirty="0" err="1"/>
              <a:t>laxmi</a:t>
            </a:r>
            <a:r>
              <a:rPr lang="en-IN" dirty="0"/>
              <a:t>, </a:t>
            </a:r>
            <a:r>
              <a:rPr lang="en-IN" dirty="0" err="1"/>
              <a:t>Niranjan,Kiran</a:t>
            </a:r>
            <a:r>
              <a:rPr lang="en-IN" dirty="0"/>
              <a:t> </a:t>
            </a:r>
            <a:r>
              <a:rPr lang="en-IN" dirty="0" err="1"/>
              <a:t>kumar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Problem Statement &amp;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2000" b="1">
                <a:solidFill>
                  <a:srgbClr val="1F3A5F"/>
                </a:solidFill>
              </a:defRPr>
            </a:pPr>
            <a:r>
              <a:t>Problem</a:t>
            </a:r>
          </a:p>
          <a:p>
            <a:pPr lvl="1">
              <a:lnSpc>
                <a:spcPct val="115000"/>
              </a:lnSpc>
              <a:spcAft>
                <a:spcPts val="600"/>
              </a:spcAft>
              <a:defRPr sz="1800" b="0">
                <a:solidFill>
                  <a:srgbClr val="222222"/>
                </a:solidFill>
              </a:defRPr>
            </a:pPr>
            <a:r>
              <a:t>Large language models hallucinate facts and hold outdated knowledge; enterprises need answers grounded in their own document corpora.</a:t>
            </a:r>
          </a:p>
          <a:p>
            <a:pPr lvl="1">
              <a:lnSpc>
                <a:spcPct val="115000"/>
              </a:lnSpc>
              <a:spcAft>
                <a:spcPts val="600"/>
              </a:spcAft>
              <a:defRPr sz="1800" b="0">
                <a:solidFill>
                  <a:srgbClr val="222222"/>
                </a:solidFill>
              </a:defRPr>
            </a:pPr>
            <a:r>
              <a:t>Support teams answer repetitive product questions from manuals and knowledge bases - slow, costly and inconsistent.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2000" b="1">
                <a:solidFill>
                  <a:srgbClr val="1F3A5F"/>
                </a:solidFill>
              </a:defRPr>
            </a:pPr>
            <a:r>
              <a:t>Objective</a:t>
            </a:r>
          </a:p>
          <a:p>
            <a:pPr lvl="1">
              <a:lnSpc>
                <a:spcPct val="115000"/>
              </a:lnSpc>
              <a:spcAft>
                <a:spcPts val="600"/>
              </a:spcAft>
              <a:defRPr sz="1800" b="0">
                <a:solidFill>
                  <a:srgbClr val="222222"/>
                </a:solidFill>
              </a:defRPr>
            </a:pPr>
            <a:r>
              <a:t>Build an efficient Retrieval-Augmented Generation (RAG) pipeline that delivers accurate, grounded, cited answers to user queries.</a:t>
            </a:r>
          </a:p>
          <a:p>
            <a:pPr lvl="1">
              <a:lnSpc>
                <a:spcPct val="115000"/>
              </a:lnSpc>
              <a:spcAft>
                <a:spcPts val="600"/>
              </a:spcAft>
              <a:defRPr sz="1800" b="0">
                <a:solidFill>
                  <a:srgbClr val="222222"/>
                </a:solidFill>
              </a:defRPr>
            </a:pPr>
            <a:r>
              <a:t>Cover all five RAGBench industry domains with one system and a domain-switching chat UI.</a:t>
            </a:r>
          </a:p>
          <a:p>
            <a:pPr lvl="1">
              <a:lnSpc>
                <a:spcPct val="115000"/>
              </a:lnSpc>
              <a:spcAft>
                <a:spcPts val="600"/>
              </a:spcAft>
              <a:defRPr sz="1800" b="0">
                <a:solidFill>
                  <a:srgbClr val="222222"/>
                </a:solidFill>
              </a:defRPr>
            </a:pPr>
            <a:r>
              <a:t>Evaluate with RAGBench-style metrics: context relevance, groundedness (faithfulness), retrieval quality and answer agreement.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Dataset: RAGBench (rungalileo/ragbench)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800" b="0">
                <a:solidFill>
                  <a:srgbClr val="222222"/>
                </a:solidFill>
              </a:defRPr>
            </a:pPr>
            <a:r>
              <a:t>100k examples from real-world industry corpora; every example has a question, retrieved documents and a reference answer plus TRACe annotations (relevance / utilization / completeness / adherence).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103120"/>
          <a:ext cx="11247119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RAGBench subsets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Corpus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Indexed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Customer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delucionqa, emanual, techqa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Jeep manuals, TV manuals, IBM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23,909 chunks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Biomedical Research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covidqa, pubmedqa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CORD-19 research, PubMed abstracts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1,614 chunks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General Knowledge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hotpotqa, msmarco, hagrid, expertqa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Wikipedia, web search passages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5,549 chunks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Legal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cuad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Commercial legal contracts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16,656 chunks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Finance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finqa, tatqa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Financial reports &amp; tables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2,498 chunks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800" b="1">
                <a:solidFill>
                  <a:srgbClr val="1F3A5F"/>
                </a:solidFill>
              </a:defRPr>
            </a:pPr>
            <a:r>
              <a:t>Lewis et al. (2020) - Retrieval-Augmented Generation for Knowledge-Intensive NLP Tasks</a:t>
            </a:r>
          </a:p>
          <a:p>
            <a:pPr lvl="1">
              <a:lnSpc>
                <a:spcPct val="115000"/>
              </a:lnSpc>
              <a:spcAft>
                <a:spcPts val="600"/>
              </a:spcAft>
              <a:defRPr sz="1600" b="0">
                <a:solidFill>
                  <a:srgbClr val="222222"/>
                </a:solidFill>
              </a:defRPr>
            </a:pPr>
            <a:r>
              <a:t>Introduced RAG: combine a dense retriever with a generator so answers are conditioned on retrieved evidence instead of parametric memory alone.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 b="1">
                <a:solidFill>
                  <a:srgbClr val="1F3A5F"/>
                </a:solidFill>
              </a:defRPr>
            </a:pPr>
            <a:r>
              <a:t>Wang et al. (2024) - Searching for Best Practices in Retrieval-Augmented Generation</a:t>
            </a:r>
          </a:p>
          <a:p>
            <a:pPr lvl="1">
              <a:lnSpc>
                <a:spcPct val="115000"/>
              </a:lnSpc>
              <a:spcAft>
                <a:spcPts val="600"/>
              </a:spcAft>
              <a:defRPr sz="1600" b="0">
                <a:solidFill>
                  <a:srgbClr val="222222"/>
                </a:solidFill>
              </a:defRPr>
            </a:pPr>
            <a:r>
              <a:t>Empirically compares RAG design choices; recommends the workflow we adopt: query classification, retrieval, cross-encoder reranking, reverse repacking, then generation.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 b="1">
                <a:solidFill>
                  <a:srgbClr val="1F3A5F"/>
                </a:solidFill>
              </a:defRPr>
            </a:pPr>
            <a:r>
              <a:t>Friel et al. (2024) - RAGBench: Explainable Benchmark for Retrieval-Augmented Generation Systems</a:t>
            </a:r>
          </a:p>
          <a:p>
            <a:pPr lvl="1">
              <a:lnSpc>
                <a:spcPct val="115000"/>
              </a:lnSpc>
              <a:spcAft>
                <a:spcPts val="600"/>
              </a:spcAft>
              <a:defRPr sz="1600" b="0">
                <a:solidFill>
                  <a:srgbClr val="222222"/>
                </a:solidFill>
              </a:defRPr>
            </a:pPr>
            <a:r>
              <a:t>100k-example benchmark with the TRACe evaluation framework (context relevance, utilization, completeness, adherence) that our dataset and metrics are based 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System Architecture: RAG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051560"/>
            <a:ext cx="3108960" cy="566928"/>
          </a:xfrm>
          <a:prstGeom prst="roundRect">
            <a:avLst/>
          </a:prstGeom>
          <a:solidFill>
            <a:srgbClr val="55555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User Query</a:t>
            </a:r>
          </a:p>
        </p:txBody>
      </p:sp>
      <p:sp>
        <p:nvSpPr>
          <p:cNvPr id="4" name="Down Arrow 3"/>
          <p:cNvSpPr/>
          <p:nvPr/>
        </p:nvSpPr>
        <p:spPr>
          <a:xfrm>
            <a:off x="2359152" y="1636776"/>
            <a:ext cx="219456" cy="201168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856231"/>
            <a:ext cx="3108960" cy="566928"/>
          </a:xfrm>
          <a:prstGeom prst="roundRect">
            <a:avLst/>
          </a:prstGeom>
          <a:solidFill>
            <a:srgbClr val="2E6FB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Query Classification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small talk vs retrieval question</a:t>
            </a:r>
          </a:p>
        </p:txBody>
      </p:sp>
      <p:sp>
        <p:nvSpPr>
          <p:cNvPr id="6" name="Down Arrow 5"/>
          <p:cNvSpPr/>
          <p:nvPr/>
        </p:nvSpPr>
        <p:spPr>
          <a:xfrm>
            <a:off x="2359152" y="2441448"/>
            <a:ext cx="219456" cy="201168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2660903"/>
            <a:ext cx="3108960" cy="566928"/>
          </a:xfrm>
          <a:prstGeom prst="roundRect">
            <a:avLst/>
          </a:prstGeom>
          <a:solidFill>
            <a:srgbClr val="2E6FB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Retrieval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all-MiniLM-L6-v2 embeddings -&gt; ChromaDB, top-20</a:t>
            </a:r>
          </a:p>
        </p:txBody>
      </p:sp>
      <p:sp>
        <p:nvSpPr>
          <p:cNvPr id="8" name="Down Arrow 7"/>
          <p:cNvSpPr/>
          <p:nvPr/>
        </p:nvSpPr>
        <p:spPr>
          <a:xfrm>
            <a:off x="2359152" y="3246120"/>
            <a:ext cx="219456" cy="201168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14400" y="3465575"/>
            <a:ext cx="3108960" cy="566928"/>
          </a:xfrm>
          <a:prstGeom prst="roundRect">
            <a:avLst/>
          </a:prstGeom>
          <a:solidFill>
            <a:srgbClr val="2E6FB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Reranking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cross-encoder/ms-marco-MiniLM-L-6-v2, keep top-5</a:t>
            </a:r>
          </a:p>
        </p:txBody>
      </p:sp>
      <p:sp>
        <p:nvSpPr>
          <p:cNvPr id="10" name="Down Arrow 9"/>
          <p:cNvSpPr/>
          <p:nvPr/>
        </p:nvSpPr>
        <p:spPr>
          <a:xfrm>
            <a:off x="2359152" y="4050791"/>
            <a:ext cx="219456" cy="201168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14400" y="4270248"/>
            <a:ext cx="3108960" cy="566928"/>
          </a:xfrm>
          <a:prstGeom prst="roundRect">
            <a:avLst/>
          </a:prstGeom>
          <a:solidFill>
            <a:srgbClr val="2E6FB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Repacking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reverse order: best chunk closest to question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2359152" y="4855464"/>
            <a:ext cx="219456" cy="201168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14400" y="5074920"/>
            <a:ext cx="3108960" cy="566928"/>
          </a:xfrm>
          <a:prstGeom prst="roundRect">
            <a:avLst/>
          </a:prstGeom>
          <a:solidFill>
            <a:srgbClr val="2E8B5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Generation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Groq Llama-3.3-70B (or local flan-t5-base)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2359152" y="5660136"/>
            <a:ext cx="219456" cy="201168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14400" y="5879592"/>
            <a:ext cx="3108960" cy="566928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Grounded answer + cited sources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1188720"/>
            <a:ext cx="6035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A5F"/>
                </a:solidFill>
              </a:defRPr>
            </a:pPr>
            <a:r>
              <a:t>Chunking</a:t>
            </a:r>
          </a:p>
          <a:p>
            <a:pPr>
              <a:spcAft>
                <a:spcPts val="800"/>
              </a:spcAft>
              <a:defRPr sz="1300">
                <a:solidFill>
                  <a:srgbClr val="555555"/>
                </a:solidFill>
              </a:defRPr>
            </a:pPr>
            <a:r>
              <a:t>RecursiveCharacterTextSplitter - 1,000 chars, 150 overlap; chunks deduplicated by text hash so repeated boilerplate cannot crowd out diverse results.</a:t>
            </a:r>
          </a:p>
          <a:p>
            <a:pPr>
              <a:defRPr sz="1600" b="1">
                <a:solidFill>
                  <a:srgbClr val="1F3A5F"/>
                </a:solidFill>
              </a:defRPr>
            </a:pPr>
            <a:r>
              <a:t>Vector store</a:t>
            </a:r>
          </a:p>
          <a:p>
            <a:pPr>
              <a:spcAft>
                <a:spcPts val="800"/>
              </a:spcAft>
              <a:defRPr sz="1300">
                <a:solidFill>
                  <a:srgbClr val="555555"/>
                </a:solidFill>
              </a:defRPr>
            </a:pPr>
            <a:r>
              <a:t>ChromaDB (persistent, cosine similarity); one collection per domain - 50k+ chunks total across the five domains.</a:t>
            </a:r>
          </a:p>
          <a:p>
            <a:pPr>
              <a:defRPr sz="1600" b="1">
                <a:solidFill>
                  <a:srgbClr val="1F3A5F"/>
                </a:solidFill>
              </a:defRPr>
            </a:pPr>
            <a:r>
              <a:t>Reranking</a:t>
            </a:r>
          </a:p>
          <a:p>
            <a:pPr>
              <a:spcAft>
                <a:spcPts val="800"/>
              </a:spcAft>
              <a:defRPr sz="1300">
                <a:solidFill>
                  <a:srgbClr val="555555"/>
                </a:solidFill>
              </a:defRPr>
            </a:pPr>
            <a:r>
              <a:t>Cross-encoder scores each (question, chunk) pair jointly - far more accurate than embedding similarity alone.</a:t>
            </a:r>
          </a:p>
          <a:p>
            <a:pPr>
              <a:defRPr sz="1600" b="1">
                <a:solidFill>
                  <a:srgbClr val="1F3A5F"/>
                </a:solidFill>
              </a:defRPr>
            </a:pPr>
            <a:r>
              <a:t>Generation</a:t>
            </a:r>
          </a:p>
          <a:p>
            <a:pPr>
              <a:spcAft>
                <a:spcPts val="800"/>
              </a:spcAft>
              <a:defRPr sz="1300">
                <a:solidFill>
                  <a:srgbClr val="555555"/>
                </a:solidFill>
              </a:defRPr>
            </a:pPr>
            <a:r>
              <a:t>Strict grounding prompt: answer ONLY from the provided context, cite passage numbers, refuse when the context lacks the answer.</a:t>
            </a:r>
          </a:p>
          <a:p>
            <a:pPr>
              <a:defRPr sz="1600" b="1">
                <a:solidFill>
                  <a:srgbClr val="1F3A5F"/>
                </a:solidFill>
              </a:defRPr>
            </a:pPr>
            <a:r>
              <a:t>Query classification</a:t>
            </a:r>
          </a:p>
          <a:p>
            <a:pPr>
              <a:spcAft>
                <a:spcPts val="800"/>
              </a:spcAft>
              <a:defRPr sz="1300">
                <a:solidFill>
                  <a:srgbClr val="555555"/>
                </a:solidFill>
              </a:defRPr>
            </a:pPr>
            <a:r>
              <a:t>Small-talk queries skip retrieval and get a direct reply - saves latency and tokens.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Multi-Domain Design &amp; Tech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2011680" cy="822960"/>
          </a:xfrm>
          <a:prstGeom prst="roundRect">
            <a:avLst/>
          </a:prstGeom>
          <a:solidFill>
            <a:srgbClr val="2E6FB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Customer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Support</a:t>
            </a:r>
          </a:p>
        </p:txBody>
      </p:sp>
      <p:sp>
        <p:nvSpPr>
          <p:cNvPr id="4" name="Down Arrow 3"/>
          <p:cNvSpPr/>
          <p:nvPr/>
        </p:nvSpPr>
        <p:spPr>
          <a:xfrm>
            <a:off x="1444752" y="2057400"/>
            <a:ext cx="219456" cy="201168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2331720"/>
            <a:ext cx="2011680" cy="640080"/>
          </a:xfrm>
          <a:prstGeom prst="roundRect">
            <a:avLst/>
          </a:prstGeom>
          <a:solidFill>
            <a:srgbClr val="EAF1F8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200" b="1">
                <a:solidFill>
                  <a:srgbClr val="1F3A5F"/>
                </a:solidFill>
              </a:defRPr>
            </a:pPr>
            <a:r>
              <a:t>ChromaDB</a:t>
            </a:r>
          </a:p>
          <a:p>
            <a:pPr algn="ctr">
              <a:defRPr sz="1000" b="0">
                <a:solidFill>
                  <a:srgbClr val="1F3A5F"/>
                </a:solidFill>
              </a:defRPr>
            </a:pPr>
            <a:r>
              <a:t>collection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1188720"/>
            <a:ext cx="2011680" cy="822960"/>
          </a:xfrm>
          <a:prstGeom prst="roundRect">
            <a:avLst/>
          </a:prstGeom>
          <a:solidFill>
            <a:srgbClr val="2E6FB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Biomedical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Research</a:t>
            </a:r>
          </a:p>
        </p:txBody>
      </p:sp>
      <p:sp>
        <p:nvSpPr>
          <p:cNvPr id="7" name="Down Arrow 6"/>
          <p:cNvSpPr/>
          <p:nvPr/>
        </p:nvSpPr>
        <p:spPr>
          <a:xfrm>
            <a:off x="3730752" y="2057400"/>
            <a:ext cx="219456" cy="201168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834640" y="2331720"/>
            <a:ext cx="2011680" cy="640080"/>
          </a:xfrm>
          <a:prstGeom prst="roundRect">
            <a:avLst/>
          </a:prstGeom>
          <a:solidFill>
            <a:srgbClr val="EAF1F8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200" b="1">
                <a:solidFill>
                  <a:srgbClr val="1F3A5F"/>
                </a:solidFill>
              </a:defRPr>
            </a:pPr>
            <a:r>
              <a:t>ChromaDB</a:t>
            </a:r>
          </a:p>
          <a:p>
            <a:pPr algn="ctr">
              <a:defRPr sz="1000" b="0">
                <a:solidFill>
                  <a:srgbClr val="1F3A5F"/>
                </a:solidFill>
              </a:defRPr>
            </a:pPr>
            <a:r>
              <a:t>collection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188720"/>
            <a:ext cx="2011680" cy="822960"/>
          </a:xfrm>
          <a:prstGeom prst="roundRect">
            <a:avLst/>
          </a:prstGeom>
          <a:solidFill>
            <a:srgbClr val="2E6FB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General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Knowledge</a:t>
            </a:r>
          </a:p>
        </p:txBody>
      </p:sp>
      <p:sp>
        <p:nvSpPr>
          <p:cNvPr id="10" name="Down Arrow 9"/>
          <p:cNvSpPr/>
          <p:nvPr/>
        </p:nvSpPr>
        <p:spPr>
          <a:xfrm>
            <a:off x="6016751" y="2057400"/>
            <a:ext cx="219456" cy="201168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120640" y="2331720"/>
            <a:ext cx="2011680" cy="640080"/>
          </a:xfrm>
          <a:prstGeom prst="roundRect">
            <a:avLst/>
          </a:prstGeom>
          <a:solidFill>
            <a:srgbClr val="EAF1F8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200" b="1">
                <a:solidFill>
                  <a:srgbClr val="1F3A5F"/>
                </a:solidFill>
              </a:defRPr>
            </a:pPr>
            <a:r>
              <a:t>ChromaDB</a:t>
            </a:r>
          </a:p>
          <a:p>
            <a:pPr algn="ctr">
              <a:defRPr sz="1000" b="0">
                <a:solidFill>
                  <a:srgbClr val="1F3A5F"/>
                </a:solidFill>
              </a:defRPr>
            </a:pPr>
            <a:r>
              <a:t>collection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188720"/>
            <a:ext cx="2011680" cy="822960"/>
          </a:xfrm>
          <a:prstGeom prst="roundRect">
            <a:avLst/>
          </a:prstGeom>
          <a:solidFill>
            <a:srgbClr val="2E6FB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Legal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8302752" y="2057400"/>
            <a:ext cx="219456" cy="201168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406640" y="2331720"/>
            <a:ext cx="2011680" cy="640080"/>
          </a:xfrm>
          <a:prstGeom prst="roundRect">
            <a:avLst/>
          </a:prstGeom>
          <a:solidFill>
            <a:srgbClr val="EAF1F8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200" b="1">
                <a:solidFill>
                  <a:srgbClr val="1F3A5F"/>
                </a:solidFill>
              </a:defRPr>
            </a:pPr>
            <a:r>
              <a:t>ChromaDB</a:t>
            </a:r>
          </a:p>
          <a:p>
            <a:pPr algn="ctr">
              <a:defRPr sz="1000" b="0">
                <a:solidFill>
                  <a:srgbClr val="1F3A5F"/>
                </a:solidFill>
              </a:defRPr>
            </a:pPr>
            <a:r>
              <a:t>collection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92640" y="1188720"/>
            <a:ext cx="2011680" cy="822960"/>
          </a:xfrm>
          <a:prstGeom prst="roundRect">
            <a:avLst/>
          </a:prstGeom>
          <a:solidFill>
            <a:srgbClr val="2E6FB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Finance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10588752" y="2057400"/>
            <a:ext cx="219456" cy="201168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692640" y="2331720"/>
            <a:ext cx="2011680" cy="640080"/>
          </a:xfrm>
          <a:prstGeom prst="roundRect">
            <a:avLst/>
          </a:prstGeom>
          <a:solidFill>
            <a:srgbClr val="EAF1F8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200" b="1">
                <a:solidFill>
                  <a:srgbClr val="1F3A5F"/>
                </a:solidFill>
              </a:defRPr>
            </a:pPr>
            <a:r>
              <a:t>ChromaDB</a:t>
            </a:r>
          </a:p>
          <a:p>
            <a:pPr algn="ctr">
              <a:defRPr sz="1000" b="0">
                <a:solidFill>
                  <a:srgbClr val="1F3A5F"/>
                </a:solidFill>
              </a:defRPr>
            </a:pPr>
            <a:r>
              <a:t>collection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47472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700" b="0">
                <a:solidFill>
                  <a:srgbClr val="222222"/>
                </a:solidFill>
              </a:defRPr>
            </a:pPr>
            <a:r>
              <a:t>One vector collection per domain; embedder, reranker and LLM are shared across domains (loaded once).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 b="0">
                <a:solidFill>
                  <a:srgbClr val="222222"/>
                </a:solidFill>
              </a:defRPr>
            </a:pPr>
            <a:r>
              <a:t>Streamlit UI: tab-style domain switcher, per-domain chat history and suggestion chips, sources panel with retrieval/rerank scores.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 b="0">
                <a:solidFill>
                  <a:srgbClr val="222222"/>
                </a:solidFill>
              </a:defRPr>
            </a:pPr>
            <a:r>
              <a:t>FastAPI: POST /ask {question, domain} -&gt; answer + cited contexts; GET /health reports per-domain index sizes.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 b="0">
                <a:solidFill>
                  <a:srgbClr val="222222"/>
                </a:solidFill>
              </a:defRPr>
            </a:pPr>
            <a:r>
              <a:t>Stack: Python, PyTorch, Transformers, Sentence-Transformers, ChromaDB, LangChain text splitters, Groq API, Streamlit, FastAPI, Hugging Face datasets.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Evaluation Methodology (TRACe-inspired)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900" b="1">
                <a:solidFill>
                  <a:srgbClr val="1F3A5F"/>
                </a:solidFill>
              </a:defRPr>
            </a:pPr>
            <a:r>
              <a:t>Automated, reproducible metrics - no LLM judge required (scripts/run_eval.py, per domain):</a:t>
            </a:r>
          </a:p>
          <a:p>
            <a:pPr lvl="1">
              <a:lnSpc>
                <a:spcPct val="115000"/>
              </a:lnSpc>
              <a:spcAft>
                <a:spcPts val="600"/>
              </a:spcAft>
              <a:defRPr sz="1700" b="0">
                <a:solidFill>
                  <a:srgbClr val="222222"/>
                </a:solidFill>
              </a:defRPr>
            </a:pPr>
            <a:r>
              <a:t>Retrieval hit rate / MRR - is a gold document retrieved, and how high is it ranked?</a:t>
            </a:r>
          </a:p>
          <a:p>
            <a:pPr lvl="1">
              <a:lnSpc>
                <a:spcPct val="115000"/>
              </a:lnSpc>
              <a:spcAft>
                <a:spcPts val="600"/>
              </a:spcAft>
              <a:defRPr sz="1700" b="0">
                <a:solidFill>
                  <a:srgbClr val="222222"/>
                </a:solidFill>
              </a:defRPr>
            </a:pPr>
            <a:r>
              <a:t>Context relevance - embedding similarity between question and retrieved chunks.</a:t>
            </a:r>
          </a:p>
          <a:p>
            <a:pPr lvl="1">
              <a:lnSpc>
                <a:spcPct val="115000"/>
              </a:lnSpc>
              <a:spcAft>
                <a:spcPts val="600"/>
              </a:spcAft>
              <a:defRPr sz="1700" b="0">
                <a:solidFill>
                  <a:srgbClr val="222222"/>
                </a:solidFill>
              </a:defRPr>
            </a:pPr>
            <a:r>
              <a:t>Groundedness (faithfulness proxy) - every answer sentence must be supported by a retrieved chunk (max cosine similarity).</a:t>
            </a:r>
          </a:p>
          <a:p>
            <a:pPr lvl="1">
              <a:lnSpc>
                <a:spcPct val="115000"/>
              </a:lnSpc>
              <a:spcAft>
                <a:spcPts val="600"/>
              </a:spcAft>
              <a:defRPr sz="1700" b="0">
                <a:solidFill>
                  <a:srgbClr val="222222"/>
                </a:solidFill>
              </a:defRPr>
            </a:pPr>
            <a:r>
              <a:t>Answer similarity + ROUGE-L - agreement with the RAGBench reference answer.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900" b="0">
                <a:solidFill>
                  <a:srgbClr val="222222"/>
                </a:solidFill>
              </a:defRPr>
            </a:pPr>
            <a:r>
              <a:t>RAGBench TRACe annotations (relevance, utilization, completeness, adherence) are loaded alongside each example for comparison.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900" b="0">
                <a:solidFill>
                  <a:srgbClr val="222222"/>
                </a:solidFill>
              </a:defRPr>
            </a:pPr>
            <a:r>
              <a:t>Results are saved to eval_results_&lt;domain&gt;.json for the technical report.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Outcomes in Stages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800" b="1">
                <a:solidFill>
                  <a:srgbClr val="2E8B57"/>
                </a:solidFill>
              </a:defRPr>
            </a:pPr>
            <a:r>
              <a:t>Stage 1 - Core pipeline (done)</a:t>
            </a:r>
          </a:p>
          <a:p>
            <a:pPr lvl="1">
              <a:lnSpc>
                <a:spcPct val="115000"/>
              </a:lnSpc>
              <a:spcAft>
                <a:spcPts val="600"/>
              </a:spcAft>
              <a:defRPr sz="1600" b="0">
                <a:solidFill>
                  <a:srgbClr val="222222"/>
                </a:solidFill>
              </a:defRPr>
            </a:pPr>
            <a:r>
              <a:t>Chunking, embedding, ChromaDB indexing, dense retrieval, cross-encoder reranking, grounded generation.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 b="1">
                <a:solidFill>
                  <a:srgbClr val="2E8B57"/>
                </a:solidFill>
              </a:defRPr>
            </a:pPr>
            <a:r>
              <a:t>Stage 2 - Full customer-support corpus (done)</a:t>
            </a:r>
          </a:p>
          <a:p>
            <a:pPr lvl="1">
              <a:lnSpc>
                <a:spcPct val="115000"/>
              </a:lnSpc>
              <a:spcAft>
                <a:spcPts val="600"/>
              </a:spcAft>
              <a:defRPr sz="1600" b="0">
                <a:solidFill>
                  <a:srgbClr val="222222"/>
                </a:solidFill>
              </a:defRPr>
            </a:pPr>
            <a:r>
              <a:t>5,217 unique documents -&gt; 23,909 chunks; end-to-end answers in ~1s with Groq Llama-3.3-70B.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 b="1">
                <a:solidFill>
                  <a:srgbClr val="2E8B57"/>
                </a:solidFill>
              </a:defRPr>
            </a:pPr>
            <a:r>
              <a:t>Stage 3 - Multi-domain expansion (done)</a:t>
            </a:r>
          </a:p>
          <a:p>
            <a:pPr lvl="1">
              <a:lnSpc>
                <a:spcPct val="115000"/>
              </a:lnSpc>
              <a:spcAft>
                <a:spcPts val="600"/>
              </a:spcAft>
              <a:defRPr sz="1600" b="0">
                <a:solidFill>
                  <a:srgbClr val="222222"/>
                </a:solidFill>
              </a:defRPr>
            </a:pPr>
            <a:r>
              <a:t>All five RAGBench domains indexed into separate collections; domain-switching chat UI and API.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 b="1">
                <a:solidFill>
                  <a:srgbClr val="D97B29"/>
                </a:solidFill>
              </a:defRPr>
            </a:pPr>
            <a:r>
              <a:t>Stage 4 - Deployment &amp; evaluation (done / ongoing)</a:t>
            </a:r>
          </a:p>
          <a:p>
            <a:pPr lvl="1">
              <a:lnSpc>
                <a:spcPct val="115000"/>
              </a:lnSpc>
              <a:spcAft>
                <a:spcPts val="600"/>
              </a:spcAft>
              <a:defRPr sz="1600" b="0">
                <a:solidFill>
                  <a:srgbClr val="222222"/>
                </a:solidFill>
              </a:defRPr>
            </a:pPr>
            <a:r>
              <a:t>Streamlit app + FastAPI service running locally; evaluation harness ready - full test-split metrics to be reported per domain.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 b="0">
                <a:solidFill>
                  <a:srgbClr val="222222"/>
                </a:solidFill>
              </a:defRPr>
            </a:pPr>
            <a:r>
              <a:t>Key qualitative result: when the corpus lacks an answer (e.g. tire pressure light not in the manual subset), the system says so instead of hallucinating - faithful by construction.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Challenges &amp; Solutions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51560"/>
          <a:ext cx="112471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3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Challenge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Solution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Duplicate boilerplate (e.g. legal disclaimers) crowded the top-k results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Chunk ids are text hashes - identical chunks collapse to one entry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Small local LLM (flan-t5-base) picked wrong passages and echoed 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Simplified local prompt; Groq Llama-3.3-70B as primary generator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Questions with no supporting documents in the corpus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Strict grounding prompt - the system explicitly answers 'not found'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CPU-only embedding of 50k+ chunks is slow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Batched encoding, per-subset document caps, background index builds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Free-tier API rate limits during 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Exponential backoff retry around Groq calls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Very long legal contracts (CUAD)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Recursive chunking; 200 contracts still produce 16.6k chunks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Real-World Applicability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900" b="1">
                <a:solidFill>
                  <a:srgbClr val="1F3A5F"/>
                </a:solidFill>
              </a:defRPr>
            </a:pPr>
            <a:r>
              <a:t>Applicability</a:t>
            </a:r>
          </a:p>
          <a:p>
            <a:pPr lvl="1">
              <a:lnSpc>
                <a:spcPct val="115000"/>
              </a:lnSpc>
              <a:spcAft>
                <a:spcPts val="600"/>
              </a:spcAft>
              <a:defRPr sz="1700" b="0">
                <a:solidFill>
                  <a:srgbClr val="222222"/>
                </a:solidFill>
              </a:defRPr>
            </a:pPr>
            <a:r>
              <a:t>Customer-support copilots over product manuals and helpdesk KBs (automotive, consumer electronics, enterprise IT).</a:t>
            </a:r>
          </a:p>
          <a:p>
            <a:pPr lvl="1">
              <a:lnSpc>
                <a:spcPct val="115000"/>
              </a:lnSpc>
              <a:spcAft>
                <a:spcPts val="600"/>
              </a:spcAft>
              <a:defRPr sz="1700" b="0">
                <a:solidFill>
                  <a:srgbClr val="222222"/>
                </a:solidFill>
              </a:defRPr>
            </a:pPr>
            <a:r>
              <a:t>Same pipeline adapts to any domain by swapping the document corpus - no model retraining needed (biomedical, legal, finance shown here).</a:t>
            </a:r>
          </a:p>
          <a:p>
            <a:pPr lvl="1">
              <a:lnSpc>
                <a:spcPct val="115000"/>
              </a:lnSpc>
              <a:spcAft>
                <a:spcPts val="600"/>
              </a:spcAft>
              <a:defRPr sz="1700" b="0">
                <a:solidFill>
                  <a:srgbClr val="222222"/>
                </a:solidFill>
              </a:defRPr>
            </a:pPr>
            <a:r>
              <a:t>Grounded citations make answers auditable - critical for regulated industries.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900" b="1">
                <a:solidFill>
                  <a:srgbClr val="1F3A5F"/>
                </a:solidFill>
              </a:defRPr>
            </a:pPr>
            <a:r>
              <a:t>Future work</a:t>
            </a:r>
          </a:p>
          <a:p>
            <a:pPr lvl="1">
              <a:lnSpc>
                <a:spcPct val="115000"/>
              </a:lnSpc>
              <a:spcAft>
                <a:spcPts val="600"/>
              </a:spcAft>
              <a:defRPr sz="1700" b="0">
                <a:solidFill>
                  <a:srgbClr val="222222"/>
                </a:solidFill>
              </a:defRPr>
            </a:pPr>
            <a:r>
              <a:t>Hybrid retrieval (BM25 + dense) and query rewriting for harder multi-hop questions.</a:t>
            </a:r>
          </a:p>
          <a:p>
            <a:pPr lvl="1">
              <a:lnSpc>
                <a:spcPct val="115000"/>
              </a:lnSpc>
              <a:spcAft>
                <a:spcPts val="600"/>
              </a:spcAft>
              <a:defRPr sz="1700" b="0">
                <a:solidFill>
                  <a:srgbClr val="222222"/>
                </a:solidFill>
              </a:defRPr>
            </a:pPr>
            <a:r>
              <a:t>LLM-judge evaluation (RAGAS / TRACe) alongside the embedding-based metrics.</a:t>
            </a:r>
          </a:p>
          <a:p>
            <a:pPr lvl="1">
              <a:lnSpc>
                <a:spcPct val="115000"/>
              </a:lnSpc>
              <a:spcAft>
                <a:spcPts val="600"/>
              </a:spcAft>
              <a:defRPr sz="1700" b="0">
                <a:solidFill>
                  <a:srgbClr val="222222"/>
                </a:solidFill>
              </a:defRPr>
            </a:pPr>
            <a:r>
              <a:t>Cloud deployment (Docker on GCP / Hugging Face Spaces) with authentication and monitoring.</a:t>
            </a:r>
          </a:p>
          <a:p>
            <a:pPr lvl="1">
              <a:lnSpc>
                <a:spcPct val="115000"/>
              </a:lnSpc>
              <a:spcAft>
                <a:spcPts val="600"/>
              </a:spcAft>
              <a:defRPr sz="1700" b="0">
                <a:solidFill>
                  <a:srgbClr val="222222"/>
                </a:solidFill>
              </a:defRPr>
            </a:pPr>
            <a:r>
              <a:t>Answer streaming and conversational (multi-turn) retrieval.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1136</Words>
  <Application>Microsoft Office PowerPoint</Application>
  <PresentationFormat>Widescreen</PresentationFormat>
  <Paragraphs>136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Sonu Sanganamoni</cp:lastModifiedBy>
  <cp:revision>2</cp:revision>
  <dcterms:created xsi:type="dcterms:W3CDTF">2013-01-27T09:14:16Z</dcterms:created>
  <dcterms:modified xsi:type="dcterms:W3CDTF">2026-07-12T14:06:30Z</dcterms:modified>
  <cp:category/>
</cp:coreProperties>
</file>